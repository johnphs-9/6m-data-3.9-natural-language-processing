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3"/>
  </p:notesMasterIdLst>
  <p:sldIdLst>
    <p:sldId id="256" r:id="rId2"/>
    <p:sldId id="259" r:id="rId3"/>
    <p:sldId id="261" r:id="rId4"/>
    <p:sldId id="262" r:id="rId5"/>
    <p:sldId id="264" r:id="rId6"/>
    <p:sldId id="265" r:id="rId7"/>
    <p:sldId id="268" r:id="rId8"/>
    <p:sldId id="270" r:id="rId9"/>
    <p:sldId id="272" r:id="rId10"/>
    <p:sldId id="280" r:id="rId11"/>
    <p:sldId id="283" r:id="rId12"/>
  </p:sldIdLst>
  <p:sldSz cx="12192000" cy="6858000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pen Sans Light" panose="020B0306030504020204" pitchFamily="34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48" d="100"/>
          <a:sy n="148" d="100"/>
        </p:scale>
        <p:origin x="208" y="12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204ceb6f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73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3f204ceb6f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1" name="Google Shape;51;g3f204ceb6fc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to L09 — NLP, Embeddings &amp; Semantic Search.</a:t>
            </a:r>
            <a:endParaRPr/>
          </a:p>
        </p:txBody>
      </p:sp>
      <p:sp>
        <p:nvSpPr>
          <p:cNvPr id="75" name="Google Shape;75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questions structure today.</a:t>
            </a:r>
            <a:endParaRPr/>
          </a:p>
        </p:txBody>
      </p:sp>
      <p:sp>
        <p:nvSpPr>
          <p:cNvPr id="105" name="Google Shape;10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Concrete failure: blue summer dress query, Lila Floral Sundress in catalogue.</a:t>
            </a:r>
            <a:endParaRPr/>
          </a:p>
        </p:txBody>
      </p:sp>
      <p:sp>
        <p:nvSpPr>
          <p:cNvPr id="129" name="Google Shape;129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One-hot vectors: each word a separate dimension. No similarity captured.</a:t>
            </a:r>
            <a:endParaRPr/>
          </a:p>
        </p:txBody>
      </p:sp>
      <p:sp>
        <p:nvSpPr>
          <p:cNvPr id="194" name="Google Shape;19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Embeddings: dense low-dim vectors where geometry encodes meaning.</a:t>
            </a:r>
            <a:endParaRPr/>
          </a:p>
        </p:txBody>
      </p:sp>
      <p:sp>
        <p:nvSpPr>
          <p:cNvPr id="210" name="Google Shape;210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Concrete: cosine of synonyms after running through the pretrained model.</a:t>
            </a:r>
            <a:endParaRPr/>
          </a:p>
        </p:txBody>
      </p:sp>
      <p:sp>
        <p:nvSpPr>
          <p:cNvPr id="263" name="Google Shape;263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Recipe: embed corpus once, embed query at runtime, cosine, top-K.</a:t>
            </a:r>
            <a:endParaRPr/>
          </a:p>
        </p:txBody>
      </p:sp>
      <p:sp>
        <p:nvSpPr>
          <p:cNvPr id="315" name="Google Shape;315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Head-to-head: semantic vs TF-IDF on the 8-query benchmark.</a:t>
            </a:r>
            <a:endParaRPr/>
          </a:p>
        </p:txBody>
      </p:sp>
      <p:sp>
        <p:nvSpPr>
          <p:cNvPr id="354" name="Google Shape;354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things from L09.</a:t>
            </a:r>
            <a:endParaRPr/>
          </a:p>
        </p:txBody>
      </p:sp>
      <p:sp>
        <p:nvSpPr>
          <p:cNvPr id="513" name="Google Shape;513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2" name="Google Shape;602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week (L10): we open the transformer black box.</a:t>
            </a:r>
            <a:endParaRPr/>
          </a:p>
        </p:txBody>
      </p:sp>
      <p:sp>
        <p:nvSpPr>
          <p:cNvPr id="603" name="Google Shape;603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marL="914400" lvl="1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marL="1371600" lvl="2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lvl="3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marL="2286000" lvl="4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marL="2743200" lvl="5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/3 Content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4255500" cy="65703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69357" y="458767"/>
            <a:ext cx="3886200" cy="1218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272659" y="1897800"/>
            <a:ext cx="3982800" cy="4430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 b="1">
                <a:solidFill>
                  <a:schemeClr val="lt1"/>
                </a:solidFill>
              </a:defRPr>
            </a:lvl1pPr>
            <a:lvl2pPr lvl="1">
              <a:spcBef>
                <a:spcPts val="130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130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130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130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1300"/>
              </a:spcBef>
              <a:spcAft>
                <a:spcPts val="13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2"/>
          </p:nvPr>
        </p:nvSpPr>
        <p:spPr>
          <a:xfrm>
            <a:off x="4461081" y="550100"/>
            <a:ext cx="7383000" cy="589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1275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marL="1371600" lvl="2" indent="-40005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3810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6195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2/3 Content">
  <p:cSld name="CUSTOM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437248" y="197167"/>
            <a:ext cx="74022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sz="400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28" name="Google Shape;28;p6"/>
          <p:cNvSpPr>
            <a:spLocks noGrp="1"/>
          </p:cNvSpPr>
          <p:nvPr>
            <p:ph type="pic" idx="2"/>
          </p:nvPr>
        </p:nvSpPr>
        <p:spPr>
          <a:xfrm>
            <a:off x="0" y="0"/>
            <a:ext cx="4084200" cy="6550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437315" y="1300800"/>
            <a:ext cx="7402200" cy="504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>
              <a:spcBef>
                <a:spcPts val="1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1275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marL="1371600" lvl="2" indent="-40005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3810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6195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 2/3 Content">
  <p:cSld name="CUSTOM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>
            <a:spLocks noGrp="1"/>
          </p:cNvSpPr>
          <p:nvPr>
            <p:ph type="pic" idx="2"/>
          </p:nvPr>
        </p:nvSpPr>
        <p:spPr>
          <a:xfrm>
            <a:off x="8107384" y="0"/>
            <a:ext cx="4084200" cy="653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502053" y="1341900"/>
            <a:ext cx="7163700" cy="5191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1275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marL="1371600" lvl="2" indent="-40005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3810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6195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sz="400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Column Content">
  <p:cSld name="CUSTOM_2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609584" y="1167100"/>
            <a:ext cx="4803000" cy="475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1275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marL="1371600" lvl="2" indent="-40005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3810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6195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2"/>
          </p:nvPr>
        </p:nvSpPr>
        <p:spPr>
          <a:xfrm>
            <a:off x="6653156" y="1167100"/>
            <a:ext cx="4929000" cy="4914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1275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marL="1371600" lvl="2" indent="-40005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3810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6195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8"/>
          <p:cNvCxnSpPr/>
          <p:nvPr/>
        </p:nvCxnSpPr>
        <p:spPr>
          <a:xfrm>
            <a:off x="6095838" y="1403100"/>
            <a:ext cx="0" cy="4521300"/>
          </a:xfrm>
          <a:prstGeom prst="straightConnector1">
            <a:avLst/>
          </a:prstGeom>
          <a:noFill/>
          <a:ln w="12700" cap="flat" cmpd="sng">
            <a:solidFill>
              <a:srgbClr val="C51A4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ctrTitle"/>
          </p:nvPr>
        </p:nvSpPr>
        <p:spPr>
          <a:xfrm>
            <a:off x="914376" y="2130425"/>
            <a:ext cx="103629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1828751" y="3886200"/>
            <a:ext cx="8534100" cy="17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rm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300"/>
              </a:spcBef>
              <a:spcAft>
                <a:spcPts val="130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0642679" y="6515076"/>
            <a:ext cx="939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0" anchor="t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1275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marL="1371600" lvl="2" indent="-40005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3810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6195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 rot="5400000">
            <a:off x="5940575" y="606904"/>
            <a:ext cx="310500" cy="121917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sz="400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Char char="•"/>
              <a:defRPr sz="32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4127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Open Sans"/>
              <a:buChar char="–"/>
              <a:defRPr sz="29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4000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Char char="•"/>
              <a:defRPr sz="27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–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Char char="»"/>
              <a:defRPr sz="21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sz="19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sz="19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sz="19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Font typeface="Open Sans"/>
              <a:buChar char="•"/>
              <a:defRPr sz="19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8632103" y="6584067"/>
            <a:ext cx="3559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en-US" sz="800">
                <a:solidFill>
                  <a:srgbClr val="FFFFFF"/>
                </a:solidFill>
              </a:rPr>
              <a:t>6</a:t>
            </a:r>
            <a:r>
              <a:rPr lang="en-US"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Nanyang Technological University. All rights reserved. 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2" descr="A building with a balcony and tre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r="33271"/>
          <a:stretch/>
        </p:blipFill>
        <p:spPr>
          <a:xfrm>
            <a:off x="6172156" y="0"/>
            <a:ext cx="6095841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/>
          <p:nvPr/>
        </p:nvSpPr>
        <p:spPr>
          <a:xfrm>
            <a:off x="6172155" y="5785658"/>
            <a:ext cx="6095700" cy="1072500"/>
          </a:xfrm>
          <a:prstGeom prst="rect">
            <a:avLst/>
          </a:prstGeom>
          <a:solidFill>
            <a:srgbClr val="181C62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0" y="5785658"/>
            <a:ext cx="6172200" cy="10725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1" y="0"/>
            <a:ext cx="457200" cy="68580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2"/>
          <p:cNvSpPr txBox="1"/>
          <p:nvPr/>
        </p:nvSpPr>
        <p:spPr>
          <a:xfrm>
            <a:off x="753947" y="2199834"/>
            <a:ext cx="4842300" cy="13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4000"/>
              <a:buFont typeface="Open Sans Light"/>
              <a:buNone/>
            </a:pPr>
            <a:r>
              <a:rPr lang="en-US" sz="3200">
                <a:solidFill>
                  <a:srgbClr val="181C6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(SCTP) Advanced Professional Certificate</a:t>
            </a:r>
            <a:endParaRPr sz="3200"/>
          </a:p>
        </p:txBody>
      </p:sp>
      <p:sp>
        <p:nvSpPr>
          <p:cNvPr id="58" name="Google Shape;58;p12"/>
          <p:cNvSpPr txBox="1"/>
          <p:nvPr/>
        </p:nvSpPr>
        <p:spPr>
          <a:xfrm>
            <a:off x="750001" y="3429000"/>
            <a:ext cx="51897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r>
              <a:rPr lang="en-US" sz="3200" b="1">
                <a:solidFill>
                  <a:srgbClr val="181C62"/>
                </a:solidFill>
                <a:latin typeface="Open Sans"/>
                <a:ea typeface="Open Sans"/>
                <a:cs typeface="Open Sans"/>
                <a:sym typeface="Open Sans"/>
              </a:rPr>
              <a:t>Data Science and AI</a:t>
            </a:r>
            <a:endParaRPr sz="3200" b="1">
              <a:solidFill>
                <a:srgbClr val="181C6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2"/>
          <p:cNvPicPr preferRelativeResize="0"/>
          <p:nvPr/>
        </p:nvPicPr>
        <p:blipFill rotWithShape="1">
          <a:blip r:embed="rId4">
            <a:alphaModFix/>
          </a:blip>
          <a:srcRect t="30759" b="33662"/>
          <a:stretch/>
        </p:blipFill>
        <p:spPr>
          <a:xfrm>
            <a:off x="457188" y="0"/>
            <a:ext cx="5684722" cy="13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7200"/>
              <a:buFont typeface="Open Sans"/>
              <a:buNone/>
            </a:pPr>
            <a:r>
              <a:rPr lang="en-US" sz="72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L09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48640" y="283464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Open Sans"/>
              <a:buNone/>
            </a:pPr>
            <a: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NLP &amp;</a:t>
            </a:r>
            <a:b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7000" b="1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Embeddings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</a:pPr>
            <a:r>
              <a:rPr lang="en-US" sz="2200" i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From keyword search to semantic understanding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Today's Three Questions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From characters to meaning</a:t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548640" y="1783080"/>
            <a:ext cx="73152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48640" y="205740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1417320" y="178308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1645920" y="192024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Why does keyword search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break on real catalogues?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1645920" y="265176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Synonyms, paraphrases, intent. The catalogue says 'frock'; the customer types 'dress'.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548640" y="3246120"/>
            <a:ext cx="73152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548640" y="352044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1417320" y="324612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1645920" y="338328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IS an embedding?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1645920" y="411480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 dense vector where distance ≈ semantic similarity. Same garment, different words = nearby.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548640" y="4709160"/>
            <a:ext cx="731520" cy="15645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548640" y="498348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1417320" y="470916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1645920" y="484632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How do we build production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semantic search?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1645920" y="557784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Pretrained sentence-transformer + cosine + structured filters. ~30 lines of Python.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Why Keyword Search Fails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 concrete worked example</a:t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548640" y="1737360"/>
            <a:ext cx="1106424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822960" y="1874519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Customer query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822960" y="23317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"blue summer dress"</a:t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548640" y="3200400"/>
            <a:ext cx="11064240" cy="151058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822960" y="333756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Catalogue entry (Lila Floral Sundress)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822960" y="3749039"/>
            <a:ext cx="1051560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"Lightweight floral frock perfect for warm summer days. Tea-length, pastel print, breathable cotton."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548640" y="4663440"/>
            <a:ext cx="11064240" cy="16184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822960" y="480060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Keyword overlap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22960" y="5166360"/>
            <a:ext cx="105156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Just 1 word: 'summer'. Misses dress (description says FROCK).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Misses blue (description says PASTEL).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amount of stemming or stop-words fixes synonyms.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Words As Vectors — One-Hot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Identity, but no meaning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48640" y="1529091"/>
            <a:ext cx="5303400" cy="4855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822960" y="1874519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One-hot encoding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22960" y="2331720"/>
            <a:ext cx="4937760" cy="215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frock  → [0, 0, 1, 0, ..., 0]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dress  → [0, 0, 0, 1, ..., 0]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banana → [0, 0, 0, 0, ..., 1]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22960" y="4023360"/>
            <a:ext cx="4937760" cy="1726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Vector dimension = vocab size (50K+)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All pairs are EQUIDISTANT.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frock ≈ banana in cosine.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meaning, just identity.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6217945" y="1522472"/>
            <a:ext cx="5394900" cy="48555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6446520" y="1874519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Distributional hypothesis (Firth, 1957)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446520" y="2331720"/>
            <a:ext cx="4937760" cy="3776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'You shall know a word by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company it keeps.'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0">
              <a:solidFill>
                <a:srgbClr val="333D4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Words appearing in similar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contexts tend to mean similar things.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0">
              <a:solidFill>
                <a:srgbClr val="333D4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This is the basis for every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learned word embedding.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Embeddings — Geometry Of Meaning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Dense vectors, distance ≈ similarity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48650" y="1737351"/>
            <a:ext cx="11064300" cy="242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822950" y="1941373"/>
            <a:ext cx="1051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Pretrained embedding (sentence-transformer)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22950" y="2447150"/>
            <a:ext cx="105156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frock   → [0.21, -0.43,  0.88, ...]  (384 numbers)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dress   → [0.19, -0.41,  0.85, ...]  (very close to frock)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banana  → [-0.70, 0.20, -0.50, ...]  (very different)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63690" y="4471825"/>
            <a:ext cx="11064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Three big consequences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55130" y="4929025"/>
            <a:ext cx="1828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Compact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2666810" y="4929025"/>
            <a:ext cx="8686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384-dim vs 50,000-dim one-hot. Memory and compute friendly.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55130" y="5431945"/>
            <a:ext cx="1828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Meaning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2666810" y="5431945"/>
            <a:ext cx="8686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Cosine(frock, dress) ≈ 0.25 vs 0.00 for one-hot. Synonyms cluster.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55130" y="5934865"/>
            <a:ext cx="1828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Composable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2666810" y="5934865"/>
            <a:ext cx="8686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Average / concatenate / compare vectors → arbitrary downstream tasks.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Synonym Test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Toy embedding vs pretrained model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548640" y="1828800"/>
            <a:ext cx="11064240" cy="647395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777240" y="192024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Pair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6400800" y="1920240"/>
            <a:ext cx="25603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Toy (NB 02)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9144000" y="1920240"/>
            <a:ext cx="22860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Pretrained (NB 03)</a:t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548640" y="2468880"/>
            <a:ext cx="11064240" cy="59344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777240" y="256032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frock ↔ dress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6400800" y="2560320"/>
            <a:ext cx="25603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0.035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9144000" y="2560320"/>
            <a:ext cx="22860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0.249</a:t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548640" y="2971800"/>
            <a:ext cx="11064240" cy="593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777240" y="306324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frock ↔ gown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6400800" y="3063240"/>
            <a:ext cx="25603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0.158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9144000" y="3063240"/>
            <a:ext cx="22860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0.288</a:t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548640" y="3474720"/>
            <a:ext cx="11064240" cy="59344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777240" y="356616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sundress ↔ dress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6400800" y="3566160"/>
            <a:ext cx="25603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0.054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9144000" y="3566160"/>
            <a:ext cx="22860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0.509</a:t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548640" y="3977640"/>
            <a:ext cx="11064240" cy="5934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777240" y="406908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dress ↔ trainers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6400800" y="4069080"/>
            <a:ext cx="25603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low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9144000" y="4069080"/>
            <a:ext cx="22860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0.241</a:t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548640" y="4480560"/>
            <a:ext cx="11064240" cy="59344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777240" y="457200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dress ↔ spaceship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6400800" y="4572000"/>
            <a:ext cx="25603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low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9144000" y="4572000"/>
            <a:ext cx="22860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0.257</a:t>
            </a:r>
            <a:endParaRPr/>
          </a:p>
        </p:txBody>
      </p:sp>
      <p:sp>
        <p:nvSpPr>
          <p:cNvPr id="293" name="Google Shape;293;p24"/>
          <p:cNvSpPr/>
          <p:nvPr/>
        </p:nvSpPr>
        <p:spPr>
          <a:xfrm>
            <a:off x="548650" y="5212074"/>
            <a:ext cx="11064300" cy="686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822960" y="530352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Synonym pairs lift 7-10×. Absolute values stay in [0.2, 0.7] — read cosines as a RANKING, not a percentage.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Building A Search Engine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Three lines of NumPy on top of one model call</a:t>
            </a:r>
            <a:endParaRPr/>
          </a:p>
        </p:txBody>
      </p:sp>
      <p:sp>
        <p:nvSpPr>
          <p:cNvPr id="321" name="Google Shape;321;p26"/>
          <p:cNvSpPr/>
          <p:nvPr/>
        </p:nvSpPr>
        <p:spPr>
          <a:xfrm>
            <a:off x="548640" y="1737360"/>
            <a:ext cx="11064240" cy="6473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822960" y="17830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Pre-compute once · search at runtime in milliseconds</a:t>
            </a:r>
            <a:endParaRPr/>
          </a:p>
        </p:txBody>
      </p:sp>
      <p:sp>
        <p:nvSpPr>
          <p:cNvPr id="323" name="Google Shape;323;p26"/>
          <p:cNvSpPr/>
          <p:nvPr/>
        </p:nvSpPr>
        <p:spPr>
          <a:xfrm>
            <a:off x="548640" y="2468880"/>
            <a:ext cx="2743200" cy="13487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26"/>
          <p:cNvSpPr txBox="1"/>
          <p:nvPr/>
        </p:nvSpPr>
        <p:spPr>
          <a:xfrm>
            <a:off x="548640" y="2834640"/>
            <a:ext cx="27432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OFFLINE (once)</a:t>
            </a:r>
            <a:endParaRPr/>
          </a:p>
        </p:txBody>
      </p:sp>
      <p:sp>
        <p:nvSpPr>
          <p:cNvPr id="325" name="Google Shape;325;p26"/>
          <p:cNvSpPr/>
          <p:nvPr/>
        </p:nvSpPr>
        <p:spPr>
          <a:xfrm>
            <a:off x="3429000" y="2468880"/>
            <a:ext cx="8183879" cy="13487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3657600" y="2606040"/>
            <a:ext cx="7955279" cy="1025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catalogue_emb = model.encode(catalogue_texts)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store in NumPy / FAISS / Pinecone</a:t>
            </a: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548640" y="3749039"/>
            <a:ext cx="2743200" cy="134874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p26"/>
          <p:cNvSpPr txBox="1"/>
          <p:nvPr/>
        </p:nvSpPr>
        <p:spPr>
          <a:xfrm>
            <a:off x="548640" y="4114799"/>
            <a:ext cx="27432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 QUERY TIME</a:t>
            </a:r>
            <a:endParaRPr/>
          </a:p>
        </p:txBody>
      </p:sp>
      <p:sp>
        <p:nvSpPr>
          <p:cNvPr id="329" name="Google Shape;329;p26"/>
          <p:cNvSpPr/>
          <p:nvPr/>
        </p:nvSpPr>
        <p:spPr>
          <a:xfrm>
            <a:off x="3429000" y="3749039"/>
            <a:ext cx="8183879" cy="13487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0" name="Google Shape;330;p26"/>
          <p:cNvSpPr txBox="1"/>
          <p:nvPr/>
        </p:nvSpPr>
        <p:spPr>
          <a:xfrm>
            <a:off x="3657600" y="3886199"/>
            <a:ext cx="7955279" cy="1025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q_emb = model.encode([query])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sims = cosine_similarity(q_emb, catalogue_emb)[0]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return top-K by sims</a:t>
            </a:r>
            <a:endParaRPr/>
          </a:p>
        </p:txBody>
      </p:sp>
      <p:sp>
        <p:nvSpPr>
          <p:cNvPr id="331" name="Google Shape;331;p26"/>
          <p:cNvSpPr/>
          <p:nvPr/>
        </p:nvSpPr>
        <p:spPr>
          <a:xfrm>
            <a:off x="548640" y="5029200"/>
            <a:ext cx="2743200" cy="13487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26"/>
          <p:cNvSpPr txBox="1"/>
          <p:nvPr/>
        </p:nvSpPr>
        <p:spPr>
          <a:xfrm>
            <a:off x="548640" y="5394960"/>
            <a:ext cx="27432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OPTIONAL RE-RANK</a:t>
            </a:r>
            <a:endParaRPr/>
          </a:p>
        </p:txBody>
      </p:sp>
      <p:sp>
        <p:nvSpPr>
          <p:cNvPr id="333" name="Google Shape;333;p26"/>
          <p:cNvSpPr/>
          <p:nvPr/>
        </p:nvSpPr>
        <p:spPr>
          <a:xfrm>
            <a:off x="3429000" y="5029200"/>
            <a:ext cx="8183879" cy="13487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4" name="Google Shape;334;p26"/>
          <p:cNvSpPr txBox="1"/>
          <p:nvPr/>
        </p:nvSpPr>
        <p:spPr>
          <a:xfrm>
            <a:off x="3657600" y="5166360"/>
            <a:ext cx="7955279" cy="1025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Apply structured filters (category, price, colour)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then blend with TF-IDF, popularity, etc.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7" name="Google Shape;357;p2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28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Semantic vs TF-IDF</a:t>
            </a:r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Head-to-head on the 8-query benchmark</a:t>
            </a:r>
            <a:endParaRPr/>
          </a:p>
        </p:txBody>
      </p:sp>
      <p:sp>
        <p:nvSpPr>
          <p:cNvPr id="360" name="Google Shape;360;p28"/>
          <p:cNvSpPr/>
          <p:nvPr/>
        </p:nvSpPr>
        <p:spPr>
          <a:xfrm>
            <a:off x="548640" y="1828800"/>
            <a:ext cx="11064240" cy="53949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" name="Google Shape;361;p28"/>
          <p:cNvSpPr txBox="1"/>
          <p:nvPr/>
        </p:nvSpPr>
        <p:spPr>
          <a:xfrm>
            <a:off x="777240" y="187452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4572000" y="187452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Top-1 accuracy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7498079" y="187452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Top-5 accuracy</a:t>
            </a:r>
            <a:endParaRPr/>
          </a:p>
        </p:txBody>
      </p:sp>
      <p:sp>
        <p:nvSpPr>
          <p:cNvPr id="364" name="Google Shape;364;p28"/>
          <p:cNvSpPr/>
          <p:nvPr/>
        </p:nvSpPr>
        <p:spPr>
          <a:xfrm>
            <a:off x="548640" y="2423160"/>
            <a:ext cx="11064240" cy="6473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28"/>
          <p:cNvSpPr txBox="1"/>
          <p:nvPr/>
        </p:nvSpPr>
        <p:spPr>
          <a:xfrm>
            <a:off x="777240" y="251460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Keyword (NB 01, stemmed)</a:t>
            </a:r>
            <a:endParaRPr/>
          </a:p>
        </p:txBody>
      </p:sp>
      <p:sp>
        <p:nvSpPr>
          <p:cNvPr id="366" name="Google Shape;366;p28"/>
          <p:cNvSpPr txBox="1"/>
          <p:nvPr/>
        </p:nvSpPr>
        <p:spPr>
          <a:xfrm>
            <a:off x="4572000" y="251460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5/8 (62%)</a:t>
            </a:r>
            <a:endParaRPr/>
          </a:p>
        </p:txBody>
      </p:sp>
      <p:sp>
        <p:nvSpPr>
          <p:cNvPr id="367" name="Google Shape;367;p28"/>
          <p:cNvSpPr txBox="1"/>
          <p:nvPr/>
        </p:nvSpPr>
        <p:spPr>
          <a:xfrm>
            <a:off x="7498079" y="251460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/>
          </a:p>
        </p:txBody>
      </p:sp>
      <p:sp>
        <p:nvSpPr>
          <p:cNvPr id="368" name="Google Shape;368;p28"/>
          <p:cNvSpPr/>
          <p:nvPr/>
        </p:nvSpPr>
        <p:spPr>
          <a:xfrm>
            <a:off x="548640" y="3017520"/>
            <a:ext cx="11064240" cy="6473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9" name="Google Shape;369;p28"/>
          <p:cNvSpPr txBox="1"/>
          <p:nvPr/>
        </p:nvSpPr>
        <p:spPr>
          <a:xfrm>
            <a:off x="777240" y="310896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TF-IDF (1-grams + bigrams)</a:t>
            </a:r>
            <a:endParaRPr/>
          </a:p>
        </p:txBody>
      </p:sp>
      <p:sp>
        <p:nvSpPr>
          <p:cNvPr id="370" name="Google Shape;370;p28"/>
          <p:cNvSpPr txBox="1"/>
          <p:nvPr/>
        </p:nvSpPr>
        <p:spPr>
          <a:xfrm>
            <a:off x="4572000" y="310896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4/8 (50%)</a:t>
            </a:r>
            <a:endParaRPr/>
          </a:p>
        </p:txBody>
      </p:sp>
      <p:sp>
        <p:nvSpPr>
          <p:cNvPr id="371" name="Google Shape;371;p28"/>
          <p:cNvSpPr txBox="1"/>
          <p:nvPr/>
        </p:nvSpPr>
        <p:spPr>
          <a:xfrm>
            <a:off x="7498079" y="310896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4/8 (50%)</a:t>
            </a:r>
            <a:endParaRPr/>
          </a:p>
        </p:txBody>
      </p:sp>
      <p:sp>
        <p:nvSpPr>
          <p:cNvPr id="372" name="Google Shape;372;p28"/>
          <p:cNvSpPr/>
          <p:nvPr/>
        </p:nvSpPr>
        <p:spPr>
          <a:xfrm>
            <a:off x="548640" y="3611880"/>
            <a:ext cx="11064240" cy="6473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" name="Google Shape;373;p28"/>
          <p:cNvSpPr txBox="1"/>
          <p:nvPr/>
        </p:nvSpPr>
        <p:spPr>
          <a:xfrm>
            <a:off x="777240" y="370332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Semantic (MiniLM)</a:t>
            </a:r>
            <a:endParaRPr/>
          </a:p>
        </p:txBody>
      </p:sp>
      <p:sp>
        <p:nvSpPr>
          <p:cNvPr id="374" name="Google Shape;374;p28"/>
          <p:cNvSpPr txBox="1"/>
          <p:nvPr/>
        </p:nvSpPr>
        <p:spPr>
          <a:xfrm>
            <a:off x="4572000" y="370332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6/8 (75%)</a:t>
            </a:r>
            <a:endParaRPr/>
          </a:p>
        </p:txBody>
      </p:sp>
      <p:sp>
        <p:nvSpPr>
          <p:cNvPr id="375" name="Google Shape;375;p28"/>
          <p:cNvSpPr txBox="1"/>
          <p:nvPr/>
        </p:nvSpPr>
        <p:spPr>
          <a:xfrm>
            <a:off x="7498079" y="370332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7/8 (88%)</a:t>
            </a:r>
            <a:endParaRPr/>
          </a:p>
        </p:txBody>
      </p:sp>
      <p:sp>
        <p:nvSpPr>
          <p:cNvPr id="376" name="Google Shape;376;p28"/>
          <p:cNvSpPr/>
          <p:nvPr/>
        </p:nvSpPr>
        <p:spPr>
          <a:xfrm>
            <a:off x="548640" y="4572000"/>
            <a:ext cx="11064240" cy="172638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28"/>
          <p:cNvSpPr txBox="1"/>
          <p:nvPr/>
        </p:nvSpPr>
        <p:spPr>
          <a:xfrm>
            <a:off x="822960" y="470916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Where TF-IDF and semantic each win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822960" y="5120640"/>
            <a:ext cx="1051560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 TF-IDF wins on EXACT terms (SKUs, brand names, exact product names)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 Semantic wins on SYNONYMS, paraphrases, intent (frock/dress, gym/yoga, cosy/warm)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 Production: combine BOTH — hybrid retrieval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7" name="Google Shape;517;p3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Three Things To Remember</a:t>
            </a:r>
            <a:endParaRPr/>
          </a:p>
        </p:txBody>
      </p:sp>
      <p:sp>
        <p:nvSpPr>
          <p:cNvPr id="518" name="Google Shape;518;p36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L09 takeaways</a:t>
            </a:r>
            <a:endParaRPr/>
          </a:p>
        </p:txBody>
      </p:sp>
      <p:sp>
        <p:nvSpPr>
          <p:cNvPr id="519" name="Google Shape;519;p36"/>
          <p:cNvSpPr/>
          <p:nvPr/>
        </p:nvSpPr>
        <p:spPr>
          <a:xfrm>
            <a:off x="548640" y="1783080"/>
            <a:ext cx="73152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0" name="Google Shape;520;p36"/>
          <p:cNvSpPr txBox="1"/>
          <p:nvPr/>
        </p:nvSpPr>
        <p:spPr>
          <a:xfrm>
            <a:off x="548640" y="205740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521" name="Google Shape;521;p36"/>
          <p:cNvSpPr/>
          <p:nvPr/>
        </p:nvSpPr>
        <p:spPr>
          <a:xfrm>
            <a:off x="1417320" y="178308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2" name="Google Shape;522;p36"/>
          <p:cNvSpPr txBox="1"/>
          <p:nvPr/>
        </p:nvSpPr>
        <p:spPr>
          <a:xfrm>
            <a:off x="1645920" y="1920240"/>
            <a:ext cx="978408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Embeddings turn discrete tokens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into dense vectors where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distance = meaning</a:t>
            </a:r>
            <a:endParaRPr/>
          </a:p>
        </p:txBody>
      </p:sp>
      <p:sp>
        <p:nvSpPr>
          <p:cNvPr id="523" name="Google Shape;523;p36"/>
          <p:cNvSpPr txBox="1"/>
          <p:nvPr/>
        </p:nvSpPr>
        <p:spPr>
          <a:xfrm>
            <a:off x="1645920" y="2891332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Same garment, different words → similar vectors. Synonyms cluster.</a:t>
            </a:r>
            <a:endParaRPr dirty="0"/>
          </a:p>
        </p:txBody>
      </p:sp>
      <p:sp>
        <p:nvSpPr>
          <p:cNvPr id="524" name="Google Shape;524;p36"/>
          <p:cNvSpPr/>
          <p:nvPr/>
        </p:nvSpPr>
        <p:spPr>
          <a:xfrm>
            <a:off x="548640" y="3246120"/>
            <a:ext cx="73152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5" name="Google Shape;525;p36"/>
          <p:cNvSpPr txBox="1"/>
          <p:nvPr/>
        </p:nvSpPr>
        <p:spPr>
          <a:xfrm>
            <a:off x="548640" y="352044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526" name="Google Shape;526;p36"/>
          <p:cNvSpPr/>
          <p:nvPr/>
        </p:nvSpPr>
        <p:spPr>
          <a:xfrm>
            <a:off x="1417320" y="324612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7" name="Google Shape;527;p36"/>
          <p:cNvSpPr txBox="1"/>
          <p:nvPr/>
        </p:nvSpPr>
        <p:spPr>
          <a:xfrm>
            <a:off x="1645920" y="3383280"/>
            <a:ext cx="978408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Pretrained sentence-transformers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are the default starting point</a:t>
            </a:r>
            <a:endParaRPr/>
          </a:p>
        </p:txBody>
      </p:sp>
      <p:sp>
        <p:nvSpPr>
          <p:cNvPr id="528" name="Google Shape;528;p36"/>
          <p:cNvSpPr txBox="1"/>
          <p:nvPr/>
        </p:nvSpPr>
        <p:spPr>
          <a:xfrm>
            <a:off x="1645920" y="420624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Don't train from scratch. Load all-MiniLM-L6-v2 and call .encode(). Two lines.</a:t>
            </a:r>
            <a:endParaRPr/>
          </a:p>
        </p:txBody>
      </p:sp>
      <p:sp>
        <p:nvSpPr>
          <p:cNvPr id="529" name="Google Shape;529;p36"/>
          <p:cNvSpPr/>
          <p:nvPr/>
        </p:nvSpPr>
        <p:spPr>
          <a:xfrm>
            <a:off x="548640" y="4709160"/>
            <a:ext cx="731520" cy="15645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0" name="Google Shape;530;p36"/>
          <p:cNvSpPr txBox="1"/>
          <p:nvPr/>
        </p:nvSpPr>
        <p:spPr>
          <a:xfrm>
            <a:off x="548640" y="498348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531" name="Google Shape;531;p36"/>
          <p:cNvSpPr/>
          <p:nvPr/>
        </p:nvSpPr>
        <p:spPr>
          <a:xfrm>
            <a:off x="1417320" y="470916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2" name="Google Shape;532;p36"/>
          <p:cNvSpPr txBox="1"/>
          <p:nvPr/>
        </p:nvSpPr>
        <p:spPr>
          <a:xfrm>
            <a:off x="1645920" y="4846320"/>
            <a:ext cx="978408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Production search is HYBRID,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not pure semantic</a:t>
            </a:r>
            <a:endParaRPr/>
          </a:p>
        </p:txBody>
      </p:sp>
      <p:sp>
        <p:nvSpPr>
          <p:cNvPr id="533" name="Google Shape;533;p36"/>
          <p:cNvSpPr txBox="1"/>
          <p:nvPr/>
        </p:nvSpPr>
        <p:spPr>
          <a:xfrm>
            <a:off x="1645920" y="566928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Combine TF-IDF + semantic + structured filters + re-rank. Each component has its niche.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6" name="Google Shape;606;p3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7" name="Google Shape;607;p39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Bridge to L10</a:t>
            </a:r>
            <a:endParaRPr/>
          </a:p>
        </p:txBody>
      </p:sp>
      <p:sp>
        <p:nvSpPr>
          <p:cNvPr id="608" name="Google Shape;608;p39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Opening the transformer black box</a:t>
            </a:r>
            <a:endParaRPr/>
          </a:p>
        </p:txBody>
      </p:sp>
      <p:sp>
        <p:nvSpPr>
          <p:cNvPr id="609" name="Google Shape;609;p39"/>
          <p:cNvSpPr/>
          <p:nvPr/>
        </p:nvSpPr>
        <p:spPr>
          <a:xfrm>
            <a:off x="548640" y="1737360"/>
            <a:ext cx="11064240" cy="172638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0" name="Google Shape;610;p39"/>
          <p:cNvSpPr txBox="1"/>
          <p:nvPr/>
        </p:nvSpPr>
        <p:spPr>
          <a:xfrm>
            <a:off x="822960" y="1874519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We've used embeddings as a black box. But where do they come from?</a:t>
            </a:r>
            <a:endParaRPr/>
          </a:p>
        </p:txBody>
      </p:sp>
      <p:sp>
        <p:nvSpPr>
          <p:cNvPr id="611" name="Google Shape;611;p39"/>
          <p:cNvSpPr txBox="1"/>
          <p:nvPr/>
        </p:nvSpPr>
        <p:spPr>
          <a:xfrm>
            <a:off x="822960" y="2286000"/>
            <a:ext cx="1051560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"How does a model KNOW that frock and dress are similar without ever being told?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answer is attention — invented in 2017, behind GPT, BERT, ChatGPT, all of it."</a:t>
            </a:r>
            <a:endParaRPr/>
          </a:p>
        </p:txBody>
      </p:sp>
      <p:sp>
        <p:nvSpPr>
          <p:cNvPr id="612" name="Google Shape;612;p39"/>
          <p:cNvSpPr txBox="1"/>
          <p:nvPr/>
        </p:nvSpPr>
        <p:spPr>
          <a:xfrm>
            <a:off x="548640" y="3566160"/>
            <a:ext cx="1106424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What L10 covers</a:t>
            </a:r>
            <a:endParaRPr/>
          </a:p>
        </p:txBody>
      </p:sp>
      <p:sp>
        <p:nvSpPr>
          <p:cNvPr id="613" name="Google Shape;613;p39"/>
          <p:cNvSpPr txBox="1"/>
          <p:nvPr/>
        </p:nvSpPr>
        <p:spPr>
          <a:xfrm>
            <a:off x="640080" y="411480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Attention</a:t>
            </a:r>
            <a:endParaRPr/>
          </a:p>
        </p:txBody>
      </p:sp>
      <p:sp>
        <p:nvSpPr>
          <p:cNvPr id="614" name="Google Shape;614;p39"/>
          <p:cNvSpPr txBox="1"/>
          <p:nvPr/>
        </p:nvSpPr>
        <p:spPr>
          <a:xfrm>
            <a:off x="4389120" y="4114800"/>
            <a:ext cx="7315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mechanism that lets a model decide which words to focus on for each output token.</a:t>
            </a:r>
            <a:endParaRPr/>
          </a:p>
        </p:txBody>
      </p:sp>
      <p:sp>
        <p:nvSpPr>
          <p:cNvPr id="615" name="Google Shape;615;p39"/>
          <p:cNvSpPr txBox="1"/>
          <p:nvPr/>
        </p:nvSpPr>
        <p:spPr>
          <a:xfrm>
            <a:off x="640080" y="461772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Transformer block</a:t>
            </a:r>
            <a:endParaRPr/>
          </a:p>
        </p:txBody>
      </p:sp>
      <p:sp>
        <p:nvSpPr>
          <p:cNvPr id="616" name="Google Shape;616;p39"/>
          <p:cNvSpPr txBox="1"/>
          <p:nvPr/>
        </p:nvSpPr>
        <p:spPr>
          <a:xfrm>
            <a:off x="4389120" y="4617720"/>
            <a:ext cx="7315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Multi-head attention + feed-forward + residual + layer-norm. The Lego brick of modern NLP.</a:t>
            </a:r>
            <a:endParaRPr/>
          </a:p>
        </p:txBody>
      </p:sp>
      <p:sp>
        <p:nvSpPr>
          <p:cNvPr id="617" name="Google Shape;617;p39"/>
          <p:cNvSpPr txBox="1"/>
          <p:nvPr/>
        </p:nvSpPr>
        <p:spPr>
          <a:xfrm>
            <a:off x="640080" y="512064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Scaling</a:t>
            </a:r>
            <a:endParaRPr/>
          </a:p>
        </p:txBody>
      </p:sp>
      <p:sp>
        <p:nvSpPr>
          <p:cNvPr id="618" name="Google Shape;618;p39"/>
          <p:cNvSpPr txBox="1"/>
          <p:nvPr/>
        </p:nvSpPr>
        <p:spPr>
          <a:xfrm>
            <a:off x="4389120" y="5120640"/>
            <a:ext cx="7315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Same architecture from MiniLM (22M params) to GPT-4 (~1T). The same recipe, bigger pots.</a:t>
            </a:r>
            <a:endParaRPr/>
          </a:p>
        </p:txBody>
      </p:sp>
      <p:sp>
        <p:nvSpPr>
          <p:cNvPr id="619" name="Google Shape;619;p39"/>
          <p:cNvSpPr txBox="1"/>
          <p:nvPr/>
        </p:nvSpPr>
        <p:spPr>
          <a:xfrm>
            <a:off x="640080" y="562356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GenAI today</a:t>
            </a:r>
            <a:endParaRPr/>
          </a:p>
        </p:txBody>
      </p:sp>
      <p:sp>
        <p:nvSpPr>
          <p:cNvPr id="620" name="Google Shape;620;p39"/>
          <p:cNvSpPr txBox="1"/>
          <p:nvPr/>
        </p:nvSpPr>
        <p:spPr>
          <a:xfrm>
            <a:off x="4389120" y="5623560"/>
            <a:ext cx="7315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ChatGPT, Claude, Gemini, Llama — all transformers. By Friday you'll understand the basics.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U SCTP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999</Words>
  <Application>Microsoft Macintosh PowerPoint</Application>
  <PresentationFormat>Widescreen</PresentationFormat>
  <Paragraphs>153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Open Sans Light</vt:lpstr>
      <vt:lpstr>Open Sans</vt:lpstr>
      <vt:lpstr>Arial</vt:lpstr>
      <vt:lpstr>Calibri</vt:lpstr>
      <vt:lpstr>Consolas</vt:lpstr>
      <vt:lpstr>NTU SCTP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Feng Feng</cp:lastModifiedBy>
  <cp:revision>1</cp:revision>
  <dcterms:modified xsi:type="dcterms:W3CDTF">2026-06-30T14:15:32Z</dcterms:modified>
</cp:coreProperties>
</file>